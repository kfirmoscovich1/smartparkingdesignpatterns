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2" r:id="rId10"/>
    <p:sldId id="266" r:id="rId11"/>
    <p:sldId id="265" r:id="rId1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951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DE39B6E-33E3-9E6E-9859-8DC9D120C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ECB0D93D-386E-29EE-4DEB-2F64528CD9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291DA41-6584-6A04-FFB2-BA348368C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F6F8-DC42-4A26-9145-86540AFA2BC7}" type="datetimeFigureOut">
              <a:rPr lang="he-IL" smtClean="0"/>
              <a:t>כ"א/תמוז/תשפ"ה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DC4EBEF-F55E-289E-AFEB-1AE3691B9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4CB01D4-D1CB-4384-7AB2-60F85E4E9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4CD48-4A6A-47A5-B179-17592E42697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37451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B5F147-E8ED-F201-F342-F3A4A540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C170801-39BE-A48B-7449-4973EF89E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4EFE89A-848B-D4A1-D848-2069A2788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F6F8-DC42-4A26-9145-86540AFA2BC7}" type="datetimeFigureOut">
              <a:rPr lang="he-IL" smtClean="0"/>
              <a:t>כ"א/תמוז/תשפ"ה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F91E30C-A7A5-A4FD-6B21-46470865A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8A9539F-E2C4-EEC4-B0E6-0BD8EA28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4CD48-4A6A-47A5-B179-17592E42697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13765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30E1BA3-D56F-AD61-EB70-89883BA94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611D654-2CFC-08DC-D0E8-7E61C9CBC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EACAB7B-325B-D8CF-79AC-3C96C4469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F6F8-DC42-4A26-9145-86540AFA2BC7}" type="datetimeFigureOut">
              <a:rPr lang="he-IL" smtClean="0"/>
              <a:t>כ"א/תמוז/תשפ"ה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DEA10C7-BCEE-C7FA-019C-A6B6AD7A5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82BE003-FD1A-BAF4-BF30-58D15552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4CD48-4A6A-47A5-B179-17592E42697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1498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C489DAF-0A67-902E-EA42-CAFB2993D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BA05464-2CFE-FA5F-1C39-55997AE5AD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622F109-1BBA-250B-B72B-997C5556F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2DB2A08-56CB-7285-F545-1CD5649CA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F6F8-DC42-4A26-9145-86540AFA2BC7}" type="datetimeFigureOut">
              <a:rPr lang="he-IL" smtClean="0"/>
              <a:t>כ"א/תמוז/תשפ"ה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780281A-0848-3400-EC8F-2D8A0BD8D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8CBA489-0FF3-776D-D118-97360FE57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4CD48-4A6A-47A5-B179-17592E42697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85800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D20EDB9-40E8-47A9-E02D-4783A0A6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1F27059-3C51-760B-5E31-4C7E18E20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497904A-136D-7931-F116-FDAAE8536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88F616A0-704A-22DE-C831-5AD321E0D1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19D13924-4F43-5FE6-5AF1-BCFE34365B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50FE605C-DE5B-D8B4-B095-AD06DB49C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F6F8-DC42-4A26-9145-86540AFA2BC7}" type="datetimeFigureOut">
              <a:rPr lang="he-IL" smtClean="0"/>
              <a:t>כ"א/תמוז/תשפ"ה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88E8133A-443A-3EF3-819C-FC78ECF17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F1726EA8-8A7B-B3AA-D806-66EBDF004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4CD48-4A6A-47A5-B179-17592E42697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29979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0ED8BA1-1D8A-EDA9-EB48-4373C7E73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E46860E6-55C1-B1D1-5F71-5CFF46C3B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F6F8-DC42-4A26-9145-86540AFA2BC7}" type="datetimeFigureOut">
              <a:rPr lang="he-IL" smtClean="0"/>
              <a:t>כ"א/תמוז/תשפ"ה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19309FF3-7DC4-80E2-894A-5141EC05E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F72851E9-A2AD-3135-A876-8796FA3BD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4CD48-4A6A-47A5-B179-17592E42697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70842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3DA3DB47-D3D8-ABE3-5E14-E6FA886AF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F6F8-DC42-4A26-9145-86540AFA2BC7}" type="datetimeFigureOut">
              <a:rPr lang="he-IL" smtClean="0"/>
              <a:t>כ"א/תמוז/תשפ"ה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D03D934C-F109-9A24-E348-37AA0135C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E6ABA6DB-C492-CE16-5C0E-DBD1AD20A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4CD48-4A6A-47A5-B179-17592E42697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85630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4EDF9DD-601D-BE59-52D7-C2D06AF93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2D91F18-5A39-6FF5-12EF-7EC3D3B1F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0CBFA4A-CF98-7A79-DCD6-DE08C4267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FCCAFDC-80BD-59AE-D19A-FC8FD4F41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F6F8-DC42-4A26-9145-86540AFA2BC7}" type="datetimeFigureOut">
              <a:rPr lang="he-IL" smtClean="0"/>
              <a:t>כ"א/תמוז/תשפ"ה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F9B5839-4CFE-4FCC-1185-520E76116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E9FCB24-2B73-9E55-54D2-EA062E563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4CD48-4A6A-47A5-B179-17592E42697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10350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6036773-D729-621D-C391-1D38CCC09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115B4DF5-DAF2-7D5E-901D-279DD71173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87D8CF1-81C1-F8FA-F919-716E8164A4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D2B7FA8-E317-984F-0DFB-9019C5605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F6F8-DC42-4A26-9145-86540AFA2BC7}" type="datetimeFigureOut">
              <a:rPr lang="he-IL" smtClean="0"/>
              <a:t>כ"א/תמוז/תשפ"ה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F76B810-0463-D709-51F1-381CD95E1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118B1F8-2EA8-2640-E3B3-220165748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4CD48-4A6A-47A5-B179-17592E42697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9175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F1AEBE5-099B-DBA4-A32C-F4B29C18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6FE8D411-54B9-AD99-0AEE-E35FA2F71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99CA024-6A0E-C450-8B91-700B814AF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F6F8-DC42-4A26-9145-86540AFA2BC7}" type="datetimeFigureOut">
              <a:rPr lang="he-IL" smtClean="0"/>
              <a:t>כ"א/תמוז/תשפ"ה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985A3FB-187D-1E7B-7388-6E8CF1D9D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034F295-9FE0-A7F2-6D83-9C22F5E32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4CD48-4A6A-47A5-B179-17592E42697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4458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A4A95230-0565-A49B-8F99-439BC5E8F4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05A48B37-CDC1-AD67-121A-FFFBC75F0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18AEFCF-742F-BCE1-BA81-549D509A2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F6F8-DC42-4A26-9145-86540AFA2BC7}" type="datetimeFigureOut">
              <a:rPr lang="he-IL" smtClean="0"/>
              <a:t>כ"א/תמוז/תשפ"ה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3D15A4F-B967-1996-DF8C-C079A86B4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7F95E84-4DF8-6A70-3E6A-649AF07AE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4CD48-4A6A-47A5-B179-17592E42697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60180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214E1FE7-4ACA-8805-A66A-07B7B2076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6A725B0-225C-DD0E-086D-4793576FE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F062C68-7F19-04A7-9780-32878CEE55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7F6F8-DC42-4A26-9145-86540AFA2BC7}" type="datetimeFigureOut">
              <a:rPr lang="he-IL" smtClean="0"/>
              <a:t>כ"א/תמוז/תשפ"ה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418FE22-DBC3-8ED5-686C-967060B1D0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7C6AC92-715E-8049-20F6-7531E3DB3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B4CD48-4A6A-47A5-B179-17592E42697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79409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23BAF0FB-D723-2FC5-C8ED-F0A8154EE112}"/>
              </a:ext>
            </a:extLst>
          </p:cNvPr>
          <p:cNvSpPr txBox="1"/>
          <p:nvPr/>
        </p:nvSpPr>
        <p:spPr>
          <a:xfrm>
            <a:off x="5680728" y="1685042"/>
            <a:ext cx="4169732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מערכת ניהול חניון חכם ב-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</a:t>
            </a:r>
            <a:endParaRPr lang="he-IL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D91CDCAC-DC0D-05F7-7228-9645E2F26C81}"/>
              </a:ext>
            </a:extLst>
          </p:cNvPr>
          <p:cNvSpPr txBox="1"/>
          <p:nvPr/>
        </p:nvSpPr>
        <p:spPr>
          <a:xfrm>
            <a:off x="787278" y="2551837"/>
            <a:ext cx="9063182" cy="253402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he-IL" dirty="0"/>
              <a:t>מערכת לניהול חניון חכם, המפותחת בשפת </a:t>
            </a:r>
            <a:r>
              <a:rPr lang="en-US" dirty="0"/>
              <a:t>Java.</a:t>
            </a:r>
            <a:br>
              <a:rPr lang="en-US" dirty="0"/>
            </a:br>
            <a:r>
              <a:rPr lang="he-IL" dirty="0"/>
              <a:t>המערכת מדמה חניון מודרני, תוך יישום תבניות עיצוב מתקדמות</a:t>
            </a:r>
            <a:br>
              <a:rPr lang="en-US" dirty="0"/>
            </a:br>
            <a:r>
              <a:rPr lang="he-IL" dirty="0"/>
              <a:t>כגון </a:t>
            </a:r>
            <a:r>
              <a:rPr lang="en-US" dirty="0"/>
              <a:t>Singleton, Factory, Builder, Facade </a:t>
            </a:r>
            <a:r>
              <a:rPr lang="he-IL" dirty="0"/>
              <a:t>ו־</a:t>
            </a:r>
            <a:r>
              <a:rPr lang="en-US" dirty="0"/>
              <a:t>Observer.</a:t>
            </a:r>
            <a:br>
              <a:rPr lang="en-US" dirty="0"/>
            </a:br>
            <a:r>
              <a:rPr lang="he-IL" dirty="0"/>
              <a:t>בפרויקט פותחו מספר מנגנונים:</a:t>
            </a:r>
            <a:br>
              <a:rPr lang="en-US" dirty="0"/>
            </a:br>
            <a:r>
              <a:rPr lang="he-IL" dirty="0"/>
              <a:t>לניהול רכבים, חישוב עלויות, הפקת דוחות סטטיסטיים, ורישום כניסות ויציאות של רכבים.</a:t>
            </a:r>
            <a:br>
              <a:rPr lang="he-IL" dirty="0"/>
            </a:br>
            <a:r>
              <a:rPr lang="he-IL" dirty="0"/>
              <a:t>המערכת כוללת היררכיית רכבים, מחשב תעריפים מותאם, כלי ניטור ודיווח, וממשק הפעלה מרכזי.</a:t>
            </a:r>
          </a:p>
        </p:txBody>
      </p:sp>
      <p:grpSp>
        <p:nvGrpSpPr>
          <p:cNvPr id="15" name="קבוצה 14">
            <a:extLst>
              <a:ext uri="{FF2B5EF4-FFF2-40B4-BE49-F238E27FC236}">
                <a16:creationId xmlns:a16="http://schemas.microsoft.com/office/drawing/2014/main" id="{B344AD90-1629-D2DC-0D0E-9BB07DF646C7}"/>
              </a:ext>
            </a:extLst>
          </p:cNvPr>
          <p:cNvGrpSpPr/>
          <p:nvPr/>
        </p:nvGrpSpPr>
        <p:grpSpPr>
          <a:xfrm>
            <a:off x="-367753" y="0"/>
            <a:ext cx="13269684" cy="1276528"/>
            <a:chOff x="-1045600" y="0"/>
            <a:chExt cx="13269684" cy="1276528"/>
          </a:xfrm>
        </p:grpSpPr>
        <p:pic>
          <p:nvPicPr>
            <p:cNvPr id="9" name="תמונה 8">
              <a:extLst>
                <a:ext uri="{FF2B5EF4-FFF2-40B4-BE49-F238E27FC236}">
                  <a16:creationId xmlns:a16="http://schemas.microsoft.com/office/drawing/2014/main" id="{CE073B19-9DEA-75A3-3DDE-2D739C97B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004449" y="0"/>
              <a:ext cx="2219635" cy="1276528"/>
            </a:xfrm>
            <a:prstGeom prst="rect">
              <a:avLst/>
            </a:prstGeom>
          </p:spPr>
        </p:pic>
        <p:pic>
          <p:nvPicPr>
            <p:cNvPr id="10" name="תמונה 9">
              <a:extLst>
                <a:ext uri="{FF2B5EF4-FFF2-40B4-BE49-F238E27FC236}">
                  <a16:creationId xmlns:a16="http://schemas.microsoft.com/office/drawing/2014/main" id="{AC606695-0380-6394-608E-AEB870D609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800856" y="0"/>
              <a:ext cx="2219635" cy="1276528"/>
            </a:xfrm>
            <a:prstGeom prst="rect">
              <a:avLst/>
            </a:prstGeom>
          </p:spPr>
        </p:pic>
        <p:pic>
          <p:nvPicPr>
            <p:cNvPr id="11" name="תמונה 10">
              <a:extLst>
                <a:ext uri="{FF2B5EF4-FFF2-40B4-BE49-F238E27FC236}">
                  <a16:creationId xmlns:a16="http://schemas.microsoft.com/office/drawing/2014/main" id="{5AE0B380-FF3D-3B97-8CB6-D7713F5B5B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581221" y="0"/>
              <a:ext cx="2219635" cy="1276528"/>
            </a:xfrm>
            <a:prstGeom prst="rect">
              <a:avLst/>
            </a:prstGeom>
          </p:spPr>
        </p:pic>
        <p:pic>
          <p:nvPicPr>
            <p:cNvPr id="12" name="תמונה 11">
              <a:extLst>
                <a:ext uri="{FF2B5EF4-FFF2-40B4-BE49-F238E27FC236}">
                  <a16:creationId xmlns:a16="http://schemas.microsoft.com/office/drawing/2014/main" id="{82BE7DAF-1B6A-4C4D-46B5-B5B8E3F25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377628" y="0"/>
              <a:ext cx="2219635" cy="1276528"/>
            </a:xfrm>
            <a:prstGeom prst="rect">
              <a:avLst/>
            </a:prstGeom>
          </p:spPr>
        </p:pic>
        <p:pic>
          <p:nvPicPr>
            <p:cNvPr id="13" name="תמונה 12">
              <a:extLst>
                <a:ext uri="{FF2B5EF4-FFF2-40B4-BE49-F238E27FC236}">
                  <a16:creationId xmlns:a16="http://schemas.microsoft.com/office/drawing/2014/main" id="{27AA04D4-FF5D-6EFF-DA81-2E8BC990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157993" y="0"/>
              <a:ext cx="2219635" cy="1276528"/>
            </a:xfrm>
            <a:prstGeom prst="rect">
              <a:avLst/>
            </a:prstGeom>
          </p:spPr>
        </p:pic>
        <p:pic>
          <p:nvPicPr>
            <p:cNvPr id="14" name="תמונה 13">
              <a:extLst>
                <a:ext uri="{FF2B5EF4-FFF2-40B4-BE49-F238E27FC236}">
                  <a16:creationId xmlns:a16="http://schemas.microsoft.com/office/drawing/2014/main" id="{2DC75CED-1186-5894-CEA9-E4F278E83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-1045600" y="0"/>
              <a:ext cx="2219635" cy="1276528"/>
            </a:xfrm>
            <a:prstGeom prst="rect">
              <a:avLst/>
            </a:prstGeom>
          </p:spPr>
        </p:pic>
      </p:grpSp>
      <p:grpSp>
        <p:nvGrpSpPr>
          <p:cNvPr id="16" name="קבוצה 15">
            <a:extLst>
              <a:ext uri="{FF2B5EF4-FFF2-40B4-BE49-F238E27FC236}">
                <a16:creationId xmlns:a16="http://schemas.microsoft.com/office/drawing/2014/main" id="{9DFF1298-1F89-4239-6CDA-E0D1DC12A1FB}"/>
              </a:ext>
            </a:extLst>
          </p:cNvPr>
          <p:cNvGrpSpPr/>
          <p:nvPr/>
        </p:nvGrpSpPr>
        <p:grpSpPr>
          <a:xfrm rot="10800000">
            <a:off x="-538842" y="5574588"/>
            <a:ext cx="13269684" cy="1276528"/>
            <a:chOff x="-1045600" y="0"/>
            <a:chExt cx="13269684" cy="1276528"/>
          </a:xfrm>
        </p:grpSpPr>
        <p:pic>
          <p:nvPicPr>
            <p:cNvPr id="17" name="תמונה 16">
              <a:extLst>
                <a:ext uri="{FF2B5EF4-FFF2-40B4-BE49-F238E27FC236}">
                  <a16:creationId xmlns:a16="http://schemas.microsoft.com/office/drawing/2014/main" id="{F4295E60-DA14-10CB-DAC2-0106AC4B2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004449" y="0"/>
              <a:ext cx="2219635" cy="1276528"/>
            </a:xfrm>
            <a:prstGeom prst="rect">
              <a:avLst/>
            </a:prstGeom>
          </p:spPr>
        </p:pic>
        <p:pic>
          <p:nvPicPr>
            <p:cNvPr id="18" name="תמונה 17">
              <a:extLst>
                <a:ext uri="{FF2B5EF4-FFF2-40B4-BE49-F238E27FC236}">
                  <a16:creationId xmlns:a16="http://schemas.microsoft.com/office/drawing/2014/main" id="{CD37CA33-D2F0-7AE3-B023-D2E4723CC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800856" y="0"/>
              <a:ext cx="2219635" cy="1276528"/>
            </a:xfrm>
            <a:prstGeom prst="rect">
              <a:avLst/>
            </a:prstGeom>
          </p:spPr>
        </p:pic>
        <p:pic>
          <p:nvPicPr>
            <p:cNvPr id="19" name="תמונה 18">
              <a:extLst>
                <a:ext uri="{FF2B5EF4-FFF2-40B4-BE49-F238E27FC236}">
                  <a16:creationId xmlns:a16="http://schemas.microsoft.com/office/drawing/2014/main" id="{C9000888-9601-74E8-F5F7-4FD0B8EB48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581221" y="0"/>
              <a:ext cx="2219635" cy="1276528"/>
            </a:xfrm>
            <a:prstGeom prst="rect">
              <a:avLst/>
            </a:prstGeom>
          </p:spPr>
        </p:pic>
        <p:pic>
          <p:nvPicPr>
            <p:cNvPr id="20" name="תמונה 19">
              <a:extLst>
                <a:ext uri="{FF2B5EF4-FFF2-40B4-BE49-F238E27FC236}">
                  <a16:creationId xmlns:a16="http://schemas.microsoft.com/office/drawing/2014/main" id="{0E0E9647-8AED-4EE1-5809-83C7305C9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377628" y="0"/>
              <a:ext cx="2219635" cy="1276528"/>
            </a:xfrm>
            <a:prstGeom prst="rect">
              <a:avLst/>
            </a:prstGeom>
          </p:spPr>
        </p:pic>
        <p:pic>
          <p:nvPicPr>
            <p:cNvPr id="21" name="תמונה 20">
              <a:extLst>
                <a:ext uri="{FF2B5EF4-FFF2-40B4-BE49-F238E27FC236}">
                  <a16:creationId xmlns:a16="http://schemas.microsoft.com/office/drawing/2014/main" id="{177F8665-3C62-D40D-F7F8-9D164FED52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157993" y="0"/>
              <a:ext cx="2219635" cy="1276528"/>
            </a:xfrm>
            <a:prstGeom prst="rect">
              <a:avLst/>
            </a:prstGeom>
          </p:spPr>
        </p:pic>
        <p:pic>
          <p:nvPicPr>
            <p:cNvPr id="22" name="תמונה 21">
              <a:extLst>
                <a:ext uri="{FF2B5EF4-FFF2-40B4-BE49-F238E27FC236}">
                  <a16:creationId xmlns:a16="http://schemas.microsoft.com/office/drawing/2014/main" id="{0EE6A0EF-F8BE-65C1-9E2B-CF46CB68EE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-1045600" y="0"/>
              <a:ext cx="2219635" cy="12765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83308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קבוצה 1">
            <a:extLst>
              <a:ext uri="{FF2B5EF4-FFF2-40B4-BE49-F238E27FC236}">
                <a16:creationId xmlns:a16="http://schemas.microsoft.com/office/drawing/2014/main" id="{E0B32698-0255-D75E-585F-36DC5E5D6432}"/>
              </a:ext>
            </a:extLst>
          </p:cNvPr>
          <p:cNvGrpSpPr/>
          <p:nvPr/>
        </p:nvGrpSpPr>
        <p:grpSpPr>
          <a:xfrm>
            <a:off x="-274397" y="552314"/>
            <a:ext cx="12740793" cy="6562904"/>
            <a:chOff x="-346932" y="628514"/>
            <a:chExt cx="12740793" cy="6562904"/>
          </a:xfrm>
        </p:grpSpPr>
        <p:grpSp>
          <p:nvGrpSpPr>
            <p:cNvPr id="25" name="קבוצה 24">
              <a:extLst>
                <a:ext uri="{FF2B5EF4-FFF2-40B4-BE49-F238E27FC236}">
                  <a16:creationId xmlns:a16="http://schemas.microsoft.com/office/drawing/2014/main" id="{C9834017-3893-98ED-93DF-EB4782F3BB07}"/>
                </a:ext>
              </a:extLst>
            </p:cNvPr>
            <p:cNvGrpSpPr/>
            <p:nvPr/>
          </p:nvGrpSpPr>
          <p:grpSpPr>
            <a:xfrm>
              <a:off x="-346932" y="5853500"/>
              <a:ext cx="12740793" cy="1337918"/>
              <a:chOff x="119412" y="5917508"/>
              <a:chExt cx="12740793" cy="1337918"/>
            </a:xfrm>
          </p:grpSpPr>
          <p:pic>
            <p:nvPicPr>
              <p:cNvPr id="15" name="תמונה 14" descr="תמונה שמכילה שחור, חשיכה&#10;&#10;תוכן בינה מלאכותית גנרטיבית עשוי להיות שגוי.">
                <a:extLst>
                  <a:ext uri="{FF2B5EF4-FFF2-40B4-BE49-F238E27FC236}">
                    <a16:creationId xmlns:a16="http://schemas.microsoft.com/office/drawing/2014/main" id="{E66E62A9-E4DF-523A-A1F6-41FAE8896B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19149" y="6191120"/>
                <a:ext cx="790701" cy="790701"/>
              </a:xfrm>
              <a:prstGeom prst="rect">
                <a:avLst/>
              </a:prstGeom>
            </p:spPr>
          </p:pic>
          <p:pic>
            <p:nvPicPr>
              <p:cNvPr id="17" name="תמונה 16" descr="תמונה שמכילה שחור, חשיכה&#10;&#10;תוכן בינה מלאכותית גנרטיבית עשוי להיות שגוי.">
                <a:extLst>
                  <a:ext uri="{FF2B5EF4-FFF2-40B4-BE49-F238E27FC236}">
                    <a16:creationId xmlns:a16="http://schemas.microsoft.com/office/drawing/2014/main" id="{5FB79D8D-DCF8-BD6B-C12E-CC7CD17C73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9412" y="5917513"/>
                <a:ext cx="1337913" cy="1337913"/>
              </a:xfrm>
              <a:prstGeom prst="rect">
                <a:avLst/>
              </a:prstGeom>
            </p:spPr>
          </p:pic>
          <p:pic>
            <p:nvPicPr>
              <p:cNvPr id="18" name="תמונה 17" descr="תמונה שמכילה שחור, חשיכה&#10;&#10;תוכן בינה מלאכותית גנרטיבית עשוי להיות שגוי.">
                <a:extLst>
                  <a:ext uri="{FF2B5EF4-FFF2-40B4-BE49-F238E27FC236}">
                    <a16:creationId xmlns:a16="http://schemas.microsoft.com/office/drawing/2014/main" id="{D681CC1E-C689-75F2-F365-5756BE44B1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71411" y="6191118"/>
                <a:ext cx="790701" cy="790701"/>
              </a:xfrm>
              <a:prstGeom prst="rect">
                <a:avLst/>
              </a:prstGeom>
            </p:spPr>
          </p:pic>
          <p:pic>
            <p:nvPicPr>
              <p:cNvPr id="19" name="תמונה 18" descr="תמונה שמכילה שחור, חשיכה&#10;&#10;תוכן בינה מלאכותית גנרטיבית עשוי להיות שגוי.">
                <a:extLst>
                  <a:ext uri="{FF2B5EF4-FFF2-40B4-BE49-F238E27FC236}">
                    <a16:creationId xmlns:a16="http://schemas.microsoft.com/office/drawing/2014/main" id="{D75B80FA-4CAB-6F63-C3FB-E5B01587B2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71674" y="5917513"/>
                <a:ext cx="1337913" cy="1337913"/>
              </a:xfrm>
              <a:prstGeom prst="rect">
                <a:avLst/>
              </a:prstGeom>
            </p:spPr>
          </p:pic>
          <p:pic>
            <p:nvPicPr>
              <p:cNvPr id="20" name="תמונה 19" descr="תמונה שמכילה שחור, חשיכה&#10;&#10;תוכן בינה מלאכותית גנרטיבית עשוי להיות שגוי.">
                <a:extLst>
                  <a:ext uri="{FF2B5EF4-FFF2-40B4-BE49-F238E27FC236}">
                    <a16:creationId xmlns:a16="http://schemas.microsoft.com/office/drawing/2014/main" id="{A49E9ED5-0A2C-6448-F665-F0ABDC2ADF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23673" y="6191117"/>
                <a:ext cx="790701" cy="790701"/>
              </a:xfrm>
              <a:prstGeom prst="rect">
                <a:avLst/>
              </a:prstGeom>
            </p:spPr>
          </p:pic>
          <p:pic>
            <p:nvPicPr>
              <p:cNvPr id="21" name="תמונה 20" descr="תמונה שמכילה שחור, חשיכה&#10;&#10;תוכן בינה מלאכותית גנרטיבית עשוי להיות שגוי.">
                <a:extLst>
                  <a:ext uri="{FF2B5EF4-FFF2-40B4-BE49-F238E27FC236}">
                    <a16:creationId xmlns:a16="http://schemas.microsoft.com/office/drawing/2014/main" id="{D938EA89-CEC2-EE17-F072-AEA8CF3478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23936" y="5917513"/>
                <a:ext cx="1337913" cy="1337913"/>
              </a:xfrm>
              <a:prstGeom prst="rect">
                <a:avLst/>
              </a:prstGeom>
            </p:spPr>
          </p:pic>
          <p:pic>
            <p:nvPicPr>
              <p:cNvPr id="22" name="תמונה 21" descr="תמונה שמכילה שחור, חשיכה&#10;&#10;תוכן בינה מלאכותית גנרטיבית עשוי להיות שגוי.">
                <a:extLst>
                  <a:ext uri="{FF2B5EF4-FFF2-40B4-BE49-F238E27FC236}">
                    <a16:creationId xmlns:a16="http://schemas.microsoft.com/office/drawing/2014/main" id="{F9F24DEC-F5C2-1C80-C2A4-C7543A2CF9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372851" y="6191115"/>
                <a:ext cx="790701" cy="790701"/>
              </a:xfrm>
              <a:prstGeom prst="rect">
                <a:avLst/>
              </a:prstGeom>
            </p:spPr>
          </p:pic>
          <p:pic>
            <p:nvPicPr>
              <p:cNvPr id="23" name="תמונה 22" descr="תמונה שמכילה שחור, חשיכה&#10;&#10;תוכן בינה מלאכותית גנרטיבית עשוי להיות שגוי.">
                <a:extLst>
                  <a:ext uri="{FF2B5EF4-FFF2-40B4-BE49-F238E27FC236}">
                    <a16:creationId xmlns:a16="http://schemas.microsoft.com/office/drawing/2014/main" id="{09AEDC88-4F1F-7B88-163E-3A1E5F4D26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676198" y="5917510"/>
                <a:ext cx="1337913" cy="1337913"/>
              </a:xfrm>
              <a:prstGeom prst="rect">
                <a:avLst/>
              </a:prstGeom>
            </p:spPr>
          </p:pic>
          <p:pic>
            <p:nvPicPr>
              <p:cNvPr id="24" name="תמונה 23" descr="תמונה שמכילה שחור, חשיכה&#10;&#10;תוכן בינה מלאכותית גנרטיבית עשוי להיות שגוי.">
                <a:extLst>
                  <a:ext uri="{FF2B5EF4-FFF2-40B4-BE49-F238E27FC236}">
                    <a16:creationId xmlns:a16="http://schemas.microsoft.com/office/drawing/2014/main" id="{2CA6EBF1-1C39-FD7D-961C-08098CB6FF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22292" y="5917508"/>
                <a:ext cx="1337913" cy="1337913"/>
              </a:xfrm>
              <a:prstGeom prst="rect">
                <a:avLst/>
              </a:prstGeom>
            </p:spPr>
          </p:pic>
        </p:grpSp>
        <p:sp>
          <p:nvSpPr>
            <p:cNvPr id="26" name="תיבת טקסט 25">
              <a:extLst>
                <a:ext uri="{FF2B5EF4-FFF2-40B4-BE49-F238E27FC236}">
                  <a16:creationId xmlns:a16="http://schemas.microsoft.com/office/drawing/2014/main" id="{E24CABEB-3DD8-B80C-8324-0E2BDC06B5A3}"/>
                </a:ext>
              </a:extLst>
            </p:cNvPr>
            <p:cNvSpPr txBox="1"/>
            <p:nvPr/>
          </p:nvSpPr>
          <p:spPr>
            <a:xfrm>
              <a:off x="5205821" y="628514"/>
              <a:ext cx="5850127" cy="52322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he-IL" sz="2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היררכיית רכבים: </a:t>
              </a:r>
              <a:r>
                <a:rPr lang="en-US" sz="2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Vehicle, Car, Motorcycle</a:t>
              </a:r>
              <a:endParaRPr lang="he-IL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Rectangle 5">
              <a:extLst>
                <a:ext uri="{FF2B5EF4-FFF2-40B4-BE49-F238E27FC236}">
                  <a16:creationId xmlns:a16="http://schemas.microsoft.com/office/drawing/2014/main" id="{E6918C63-7985-3341-114B-1CC1DCA28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574" y="1614704"/>
              <a:ext cx="10746852" cy="28623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he-IL" altLang="he-IL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המערכת כוללת היררכיה ברורה של רכבים, שמתחילה במחלקה האבסטרקטית </a:t>
              </a:r>
              <a:r>
                <a:rPr kumimoji="0" lang="he-IL" altLang="he-IL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Vehicle</a:t>
              </a:r>
              <a:r>
                <a:rPr kumimoji="0" lang="he-IL" altLang="he-IL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, המייצגת כל רכב כללי במערכת.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br>
                <a:rPr kumimoji="0" lang="he-IL" altLang="he-IL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he-IL" altLang="he-IL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המחלקה כוללת שדות כגון: </a:t>
              </a:r>
              <a:r>
                <a:rPr kumimoji="0" lang="he-IL" altLang="he-IL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licensePlate</a:t>
              </a:r>
              <a:r>
                <a:rPr kumimoji="0" lang="he-IL" altLang="he-IL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kumimoji="0" lang="he-IL" altLang="he-IL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entryTime</a:t>
              </a:r>
              <a:r>
                <a:rPr kumimoji="0" lang="he-IL" altLang="he-IL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kumimoji="0" lang="he-IL" altLang="he-IL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ו־exitTime</a:t>
              </a:r>
              <a:r>
                <a:rPr kumimoji="0" lang="he-IL" altLang="he-IL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, ומתודות מרכזיות כמו:</a:t>
              </a:r>
              <a:br>
                <a:rPr kumimoji="0" lang="he-IL" altLang="he-IL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he-IL" altLang="he-IL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getParkingDurationInMinutes</a:t>
              </a:r>
              <a:r>
                <a:rPr kumimoji="0" lang="he-IL" altLang="he-IL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() לחישוב משך החניה, </a:t>
              </a:r>
              <a:r>
                <a:rPr kumimoji="0" lang="he-IL" altLang="he-IL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ו־clone</a:t>
              </a:r>
              <a:r>
                <a:rPr kumimoji="0" lang="he-IL" altLang="he-IL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() המממשת את תבנית העיצוב </a:t>
              </a:r>
              <a:r>
                <a:rPr kumimoji="0" lang="he-IL" altLang="he-IL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Prototype</a:t>
              </a:r>
              <a:r>
                <a:rPr kumimoji="0" lang="he-IL" altLang="he-IL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0" lang="he-IL" altLang="he-I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he-IL" altLang="he-IL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מהמחלקה </a:t>
              </a:r>
              <a:r>
                <a:rPr kumimoji="0" lang="he-IL" altLang="he-IL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Vehicle</a:t>
              </a:r>
              <a:r>
                <a:rPr kumimoji="0" lang="he-IL" altLang="he-IL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נגזרות שתי מחלקות: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kumimoji="0" lang="he-IL" altLang="he-IL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Car</a:t>
              </a:r>
              <a:r>
                <a:rPr kumimoji="0" lang="he-IL" altLang="he-IL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– מייצגת רכב פרטי.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kumimoji="0" lang="he-IL" altLang="he-IL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Motorcycle</a:t>
              </a:r>
              <a:r>
                <a:rPr kumimoji="0" lang="he-IL" altLang="he-IL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– מייצגת אופנוע.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kumimoji="0" lang="he-IL" altLang="he-I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he-IL" altLang="he-IL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שתי המחלקות היורשות אינן מוסיפות שדות או מתודות נוספות, ומשמשות כסוגים מוגדרים של רכבים לצורכי חישוב ותפעול.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8392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קבוצה 23">
            <a:extLst>
              <a:ext uri="{FF2B5EF4-FFF2-40B4-BE49-F238E27FC236}">
                <a16:creationId xmlns:a16="http://schemas.microsoft.com/office/drawing/2014/main" id="{D7A00A9F-475C-7421-6195-D381329FC5C5}"/>
              </a:ext>
            </a:extLst>
          </p:cNvPr>
          <p:cNvGrpSpPr/>
          <p:nvPr/>
        </p:nvGrpSpPr>
        <p:grpSpPr>
          <a:xfrm>
            <a:off x="1594893" y="482099"/>
            <a:ext cx="9002214" cy="5893801"/>
            <a:chOff x="1711460" y="375851"/>
            <a:chExt cx="9002214" cy="5893801"/>
          </a:xfrm>
        </p:grpSpPr>
        <p:sp>
          <p:nvSpPr>
            <p:cNvPr id="5" name="תיבת טקסט 4">
              <a:extLst>
                <a:ext uri="{FF2B5EF4-FFF2-40B4-BE49-F238E27FC236}">
                  <a16:creationId xmlns:a16="http://schemas.microsoft.com/office/drawing/2014/main" id="{E9E83048-CF70-1918-19DA-6D8DCA0A79DD}"/>
                </a:ext>
              </a:extLst>
            </p:cNvPr>
            <p:cNvSpPr txBox="1"/>
            <p:nvPr/>
          </p:nvSpPr>
          <p:spPr>
            <a:xfrm>
              <a:off x="5994702" y="375851"/>
              <a:ext cx="4602542" cy="52322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he-IL" sz="2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ניהול החניון: ניהול, תמחור והנחות</a:t>
              </a:r>
            </a:p>
          </p:txBody>
        </p:sp>
        <p:sp>
          <p:nvSpPr>
            <p:cNvPr id="6" name="מלבן: פינות מעוגלות 5">
              <a:extLst>
                <a:ext uri="{FF2B5EF4-FFF2-40B4-BE49-F238E27FC236}">
                  <a16:creationId xmlns:a16="http://schemas.microsoft.com/office/drawing/2014/main" id="{A2DE4CBC-AB1F-F778-7166-F6ABAEB5237D}"/>
                </a:ext>
              </a:extLst>
            </p:cNvPr>
            <p:cNvSpPr/>
            <p:nvPr/>
          </p:nvSpPr>
          <p:spPr>
            <a:xfrm>
              <a:off x="6198770" y="1159042"/>
              <a:ext cx="4283242" cy="2775284"/>
            </a:xfrm>
            <a:prstGeom prst="roundRect">
              <a:avLst>
                <a:gd name="adj" fmla="val 3138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מלבן: פינות מעוגלות 7">
              <a:extLst>
                <a:ext uri="{FF2B5EF4-FFF2-40B4-BE49-F238E27FC236}">
                  <a16:creationId xmlns:a16="http://schemas.microsoft.com/office/drawing/2014/main" id="{C4C0497C-9CE3-9330-04E3-2096452FC241}"/>
                </a:ext>
              </a:extLst>
            </p:cNvPr>
            <p:cNvSpPr/>
            <p:nvPr/>
          </p:nvSpPr>
          <p:spPr>
            <a:xfrm>
              <a:off x="1711460" y="1159042"/>
              <a:ext cx="4283242" cy="2775284"/>
            </a:xfrm>
            <a:prstGeom prst="roundRect">
              <a:avLst>
                <a:gd name="adj" fmla="val 3138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9" name="מלבן: פינות מעוגלות 8">
              <a:extLst>
                <a:ext uri="{FF2B5EF4-FFF2-40B4-BE49-F238E27FC236}">
                  <a16:creationId xmlns:a16="http://schemas.microsoft.com/office/drawing/2014/main" id="{2A96D47E-BEB7-2499-3515-119865720879}"/>
                </a:ext>
              </a:extLst>
            </p:cNvPr>
            <p:cNvSpPr/>
            <p:nvPr/>
          </p:nvSpPr>
          <p:spPr>
            <a:xfrm>
              <a:off x="1711460" y="4123308"/>
              <a:ext cx="8770552" cy="2146344"/>
            </a:xfrm>
            <a:prstGeom prst="roundRect">
              <a:avLst>
                <a:gd name="adj" fmla="val 3138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0" name="תיבת טקסט 9">
              <a:extLst>
                <a:ext uri="{FF2B5EF4-FFF2-40B4-BE49-F238E27FC236}">
                  <a16:creationId xmlns:a16="http://schemas.microsoft.com/office/drawing/2014/main" id="{808D92FC-E7AD-05E3-C463-51A73D84F390}"/>
                </a:ext>
              </a:extLst>
            </p:cNvPr>
            <p:cNvSpPr txBox="1"/>
            <p:nvPr/>
          </p:nvSpPr>
          <p:spPr>
            <a:xfrm>
              <a:off x="7820320" y="1315665"/>
              <a:ext cx="1941095" cy="40011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ניהול חניון</a:t>
              </a:r>
            </a:p>
          </p:txBody>
        </p:sp>
        <p:sp>
          <p:nvSpPr>
            <p:cNvPr id="11" name="תיבת טקסט 10">
              <a:extLst>
                <a:ext uri="{FF2B5EF4-FFF2-40B4-BE49-F238E27FC236}">
                  <a16:creationId xmlns:a16="http://schemas.microsoft.com/office/drawing/2014/main" id="{CED39554-4BBD-41B3-D544-0BE24B38A257}"/>
                </a:ext>
              </a:extLst>
            </p:cNvPr>
            <p:cNvSpPr txBox="1"/>
            <p:nvPr/>
          </p:nvSpPr>
          <p:spPr>
            <a:xfrm>
              <a:off x="3249682" y="1315665"/>
              <a:ext cx="1941095" cy="40011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חישוב ותשלומים</a:t>
              </a:r>
            </a:p>
          </p:txBody>
        </p:sp>
        <p:sp>
          <p:nvSpPr>
            <p:cNvPr id="12" name="תיבת טקסט 11">
              <a:extLst>
                <a:ext uri="{FF2B5EF4-FFF2-40B4-BE49-F238E27FC236}">
                  <a16:creationId xmlns:a16="http://schemas.microsoft.com/office/drawing/2014/main" id="{C110F0AB-66A1-A8BB-A134-5EBAA4CB6055}"/>
                </a:ext>
              </a:extLst>
            </p:cNvPr>
            <p:cNvSpPr txBox="1"/>
            <p:nvPr/>
          </p:nvSpPr>
          <p:spPr>
            <a:xfrm>
              <a:off x="7413986" y="4288452"/>
              <a:ext cx="2347429" cy="40011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000" dirty="0"/>
                <a:t>סוגי מנויים והנחות</a:t>
              </a:r>
              <a:endParaRPr lang="he-IL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">
              <a:extLst>
                <a:ext uri="{FF2B5EF4-FFF2-40B4-BE49-F238E27FC236}">
                  <a16:creationId xmlns:a16="http://schemas.microsoft.com/office/drawing/2014/main" id="{6565A801-EFF8-B5DA-AAA7-4B5BFE8AC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1958" y="1921029"/>
              <a:ext cx="3715986" cy="15696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he-IL" altLang="he-IL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המחלקה </a:t>
              </a:r>
              <a:r>
                <a:rPr kumimoji="0" lang="he-IL" altLang="he-IL" sz="16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ParkingLot</a:t>
              </a:r>
              <a:r>
                <a:rPr kumimoji="0" lang="he-IL" altLang="he-IL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ממומשת באמצעות תבנית </a:t>
              </a:r>
              <a:r>
                <a:rPr kumimoji="0" lang="he-IL" altLang="he-IL" sz="16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Singleton</a:t>
              </a:r>
              <a:r>
                <a:rPr kumimoji="0" lang="he-IL" altLang="he-IL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, ואחראית על ניהול כל מקומות החניה (</a:t>
              </a:r>
              <a:r>
                <a:rPr kumimoji="0" lang="he-IL" altLang="he-IL" sz="16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ParkingSpot</a:t>
              </a:r>
              <a:r>
                <a:rPr kumimoji="0" lang="he-IL" altLang="he-IL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) במערכת.</a:t>
              </a:r>
              <a:br>
                <a:rPr kumimoji="0" lang="he-IL" altLang="he-IL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he-IL" altLang="he-IL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בנוסף, היא מנהלת את היסטוריית החניות באמצעות מופעי </a:t>
              </a:r>
              <a:r>
                <a:rPr kumimoji="0" lang="he-IL" altLang="he-IL" sz="16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ParkingSession</a:t>
              </a:r>
              <a:r>
                <a:rPr kumimoji="0" lang="he-IL" altLang="he-IL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, ותומכת בצפייה באירועים שהתרחשו. </a:t>
              </a:r>
            </a:p>
          </p:txBody>
        </p:sp>
        <p:sp>
          <p:nvSpPr>
            <p:cNvPr id="14" name="Rectangle 2">
              <a:extLst>
                <a:ext uri="{FF2B5EF4-FFF2-40B4-BE49-F238E27FC236}">
                  <a16:creationId xmlns:a16="http://schemas.microsoft.com/office/drawing/2014/main" id="{72E2B740-C766-B49B-FC41-85E029E80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1460" y="1921029"/>
              <a:ext cx="4576492" cy="1323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he-IL" altLang="he-IL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המחלקה  </a:t>
              </a:r>
              <a:r>
                <a:rPr kumimoji="0" lang="he-IL" altLang="he-IL" sz="16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PricingCalculator</a:t>
              </a:r>
              <a:r>
                <a:rPr kumimoji="0" lang="he-IL" altLang="he-IL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מבצעת חישוב תשלום על סמך נתונים כגון:</a:t>
              </a:r>
              <a:br>
                <a:rPr kumimoji="0" lang="he-IL" altLang="he-IL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he-IL" altLang="he-IL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משך החניה, מצב הנכה של הנה,</a:t>
              </a:r>
              <a:br>
                <a:rPr kumimoji="0" lang="en-US" altLang="he-IL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he-IL" altLang="he-IL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וסוג המנוי (אם קיים).</a:t>
              </a:r>
              <a:br>
                <a:rPr kumimoji="0" lang="he-IL" altLang="he-IL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he-IL" altLang="he-IL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החישוב מתבצע בדיוק רב כדי להבטיח חיוב הוגן ואחיד. 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F1F5274-9A50-E4CF-5788-1051FDB17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9256" y="4813166"/>
              <a:ext cx="5604418" cy="1077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he-IL" altLang="he-IL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במערכת מוגדרים סוגי מנויים תחת </a:t>
              </a:r>
              <a:r>
                <a:rPr kumimoji="0" lang="he-IL" altLang="he-IL" sz="16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SubscriptionType</a:t>
              </a:r>
              <a:r>
                <a:rPr kumimoji="0" lang="he-IL" altLang="he-IL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</a:t>
              </a:r>
              <a:br>
                <a:rPr kumimoji="0" lang="he-IL" altLang="he-IL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he-IL" altLang="he-IL" sz="16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Standard</a:t>
              </a:r>
              <a:r>
                <a:rPr kumimoji="0" lang="he-IL" altLang="he-IL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kumimoji="0" lang="he-IL" altLang="he-IL" sz="16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Premium</a:t>
              </a:r>
              <a:r>
                <a:rPr kumimoji="0" lang="he-IL" altLang="he-IL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kumimoji="0" lang="he-IL" altLang="he-IL" sz="16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ו־VIP</a:t>
              </a:r>
              <a:r>
                <a:rPr kumimoji="0" lang="he-IL" altLang="he-IL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kumimoji="0" lang="he-IL" altLang="he-IL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he-IL" altLang="he-IL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לכל מנוי יש השפעה שונה על מחיר החניה.</a:t>
              </a:r>
              <a:br>
                <a:rPr kumimoji="0" lang="he-IL" altLang="he-IL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he-IL" altLang="he-IL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בנוסף, נשמרת היסטוריית המנויים לצורך הפקת דוחות וניתוח מידע. </a:t>
              </a:r>
            </a:p>
          </p:txBody>
        </p:sp>
        <p:pic>
          <p:nvPicPr>
            <p:cNvPr id="19" name="תמונה 18" descr="תמונה שמכילה ספורט, כדור סנוקר&#10;&#10;תוכן בינה מלאכותית גנרטיבית עשוי להיות שגוי.">
              <a:extLst>
                <a:ext uri="{FF2B5EF4-FFF2-40B4-BE49-F238E27FC236}">
                  <a16:creationId xmlns:a16="http://schemas.microsoft.com/office/drawing/2014/main" id="{C071D9BB-0867-D969-F40B-AD812BE38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2811" y="1277787"/>
              <a:ext cx="457974" cy="457974"/>
            </a:xfrm>
            <a:prstGeom prst="rect">
              <a:avLst/>
            </a:prstGeom>
          </p:spPr>
        </p:pic>
        <p:pic>
          <p:nvPicPr>
            <p:cNvPr id="21" name="תמונה 20" descr="תמונה שמכילה סמל, עיגול, גרפיקה, גופן&#10;&#10;תוכן בינה מלאכותית גנרטיבית עשוי להיות שגוי.">
              <a:extLst>
                <a:ext uri="{FF2B5EF4-FFF2-40B4-BE49-F238E27FC236}">
                  <a16:creationId xmlns:a16="http://schemas.microsoft.com/office/drawing/2014/main" id="{60A3A616-50FD-8FB9-98A6-C33DDD670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63449" y="1301280"/>
              <a:ext cx="414495" cy="414495"/>
            </a:xfrm>
            <a:prstGeom prst="rect">
              <a:avLst/>
            </a:prstGeom>
          </p:spPr>
        </p:pic>
        <p:pic>
          <p:nvPicPr>
            <p:cNvPr id="23" name="תמונה 22" descr="תמונה שמכילה צילום מסך, עיצוב&#10;&#10;תוכן בינה מלאכותית גנרטיבית עשוי להיות שגוי.">
              <a:extLst>
                <a:ext uri="{FF2B5EF4-FFF2-40B4-BE49-F238E27FC236}">
                  <a16:creationId xmlns:a16="http://schemas.microsoft.com/office/drawing/2014/main" id="{B93ABD21-BD5B-7FB5-335E-020492763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41588" y="4281738"/>
              <a:ext cx="436356" cy="4363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59394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02F4B5A0-238C-D51C-84C6-B18BD99BF733}"/>
              </a:ext>
            </a:extLst>
          </p:cNvPr>
          <p:cNvSpPr txBox="1"/>
          <p:nvPr/>
        </p:nvSpPr>
        <p:spPr>
          <a:xfrm>
            <a:off x="6905624" y="367784"/>
            <a:ext cx="42005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תבנית עיצוב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Singleton</a:t>
            </a:r>
            <a:endParaRPr lang="he-IL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DFA7B8ED-1628-C4A9-A6DD-D39582ADF295}"/>
              </a:ext>
            </a:extLst>
          </p:cNvPr>
          <p:cNvSpPr txBox="1"/>
          <p:nvPr/>
        </p:nvSpPr>
        <p:spPr>
          <a:xfrm>
            <a:off x="1095375" y="123378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תבנית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Singleton </a:t>
            </a:r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מבטיחה שקיים רק מופע אחד של אובייקט מסוים לאורך כל זמן ריצת התוכנית. תבנית זו חשובה במיוחד עבור מחלקות שצריכות לנהל משאב משותף יחיד, כמו חניון.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6E47BD14-0312-542C-F871-C40356018BFA}"/>
              </a:ext>
            </a:extLst>
          </p:cNvPr>
          <p:cNvSpPr txBox="1"/>
          <p:nvPr/>
        </p:nvSpPr>
        <p:spPr>
          <a:xfrm>
            <a:off x="4276724" y="2392056"/>
            <a:ext cx="21240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מטרת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Singleton</a:t>
            </a:r>
            <a:endParaRPr lang="he-I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1FFCE47E-0D03-861F-C2BB-BFDE6F39CD3B}"/>
              </a:ext>
            </a:extLst>
          </p:cNvPr>
          <p:cNvSpPr txBox="1"/>
          <p:nvPr/>
        </p:nvSpPr>
        <p:spPr>
          <a:xfrm>
            <a:off x="304799" y="34134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מימוש בפרויקט</a:t>
            </a: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46ECF208-4E17-5BBB-3CC1-35A25D9775D7}"/>
              </a:ext>
            </a:extLst>
          </p:cNvPr>
          <p:cNvSpPr txBox="1"/>
          <p:nvPr/>
        </p:nvSpPr>
        <p:spPr>
          <a:xfrm>
            <a:off x="304799" y="51637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יתרונות</a:t>
            </a:r>
          </a:p>
        </p:txBody>
      </p:sp>
      <p:pic>
        <p:nvPicPr>
          <p:cNvPr id="16" name="תמונה 15" descr="תמונה שמכילה גרפיקה, צבעוני, סמ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B4A3AB9-97D9-3F50-7800-B9F31D8AA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97828">
            <a:off x="6662820" y="3474060"/>
            <a:ext cx="248196" cy="248196"/>
          </a:xfrm>
          <a:prstGeom prst="rect">
            <a:avLst/>
          </a:prstGeom>
        </p:spPr>
      </p:pic>
      <p:pic>
        <p:nvPicPr>
          <p:cNvPr id="18" name="תמונה 17" descr="תמונה שמכילה עיגול, סמל, גרפיקה, צבעוני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AA3E83C-263F-EE8C-1119-A6C99402D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681" y="5213202"/>
            <a:ext cx="270474" cy="270474"/>
          </a:xfrm>
          <a:prstGeom prst="rect">
            <a:avLst/>
          </a:prstGeom>
        </p:spPr>
      </p:pic>
      <p:pic>
        <p:nvPicPr>
          <p:cNvPr id="20" name="תמונה 19" descr="תמונה שמכילה עיגו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4197E21-0CBD-109F-AC22-9157837DBB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686" y="2419498"/>
            <a:ext cx="295276" cy="295276"/>
          </a:xfrm>
          <a:prstGeom prst="rect">
            <a:avLst/>
          </a:prstGeom>
        </p:spPr>
      </p:pic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CFF487ED-2D33-52EA-3F4E-FC5820051760}"/>
              </a:ext>
            </a:extLst>
          </p:cNvPr>
          <p:cNvSpPr txBox="1"/>
          <p:nvPr/>
        </p:nvSpPr>
        <p:spPr>
          <a:xfrm>
            <a:off x="304799" y="278671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לודא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שמחלקה יוצרת מופע אחד בלבד, ולספק נקודת גישה גלובלית אליו.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3F048835-6EDF-A87A-63C6-020A2A64D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263" y="3750202"/>
            <a:ext cx="312553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במחלקה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ParkingLot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קיימת הגדרה של שדה: </a:t>
            </a:r>
          </a:p>
        </p:txBody>
      </p:sp>
      <p:sp>
        <p:nvSpPr>
          <p:cNvPr id="25" name="תיבת טקסט 24">
            <a:extLst>
              <a:ext uri="{FF2B5EF4-FFF2-40B4-BE49-F238E27FC236}">
                <a16:creationId xmlns:a16="http://schemas.microsoft.com/office/drawing/2014/main" id="{07DF4775-D2C5-E3AE-A155-DAB7E621C661}"/>
              </a:ext>
            </a:extLst>
          </p:cNvPr>
          <p:cNvSpPr txBox="1"/>
          <p:nvPr/>
        </p:nvSpPr>
        <p:spPr>
          <a:xfrm>
            <a:off x="3352799" y="4057979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he-IL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he-IL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e-IL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he-IL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e-IL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ParkingLot</a:t>
            </a:r>
            <a:r>
              <a:rPr lang="he-IL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e-IL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instance</a:t>
            </a:r>
            <a:r>
              <a:rPr lang="he-IL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B771BA25-5A71-D8F9-2FE1-F094D761F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0611" y="4344503"/>
            <a:ext cx="42001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השדה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instance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מאחסן את המופע היחיד של המחלקה,</a:t>
            </a:r>
            <a:br>
              <a:rPr kumimoji="0" lang="en-US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והבנאי מוגדר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כ־private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על מנת למנוע יצירת מופעים חיצונית. 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356AB41-C8E4-4D95-8BC2-FA855C2BC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1661" y="5559031"/>
            <a:ext cx="3639138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מניעת יצירה כפולה של חניונים.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גישה מרוכזת לסטטיסטיקות ולניהול מקומות חניה.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שמירה על עקביות הנתונים לאורך כל ריצת המערכת.</a:t>
            </a:r>
          </a:p>
        </p:txBody>
      </p:sp>
    </p:spTree>
    <p:extLst>
      <p:ext uri="{BB962C8B-B14F-4D97-AF65-F5344CB8AC3E}">
        <p14:creationId xmlns:p14="http://schemas.microsoft.com/office/powerpoint/2010/main" val="3656537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86EDF-5904-17F1-7355-B44573004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80AD0432-4E8C-247C-B5B2-00C720DADE13}"/>
              </a:ext>
            </a:extLst>
          </p:cNvPr>
          <p:cNvSpPr txBox="1"/>
          <p:nvPr/>
        </p:nvSpPr>
        <p:spPr>
          <a:xfrm>
            <a:off x="6905624" y="367784"/>
            <a:ext cx="42005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תבנית עיצוב </a:t>
            </a:r>
            <a:r>
              <a:rPr lang="en-US" sz="2800" dirty="0">
                <a:solidFill>
                  <a:srgbClr val="312F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Builder</a:t>
            </a:r>
            <a:endParaRPr lang="he-IL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C74E65F9-934C-2C88-C896-6A45DB3A9164}"/>
              </a:ext>
            </a:extLst>
          </p:cNvPr>
          <p:cNvSpPr txBox="1"/>
          <p:nvPr/>
        </p:nvSpPr>
        <p:spPr>
          <a:xfrm>
            <a:off x="1095375" y="123378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תבנית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Builder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מאפשרת בנייה הדרגתית של אובייקטים מורכבים. היא מפרידה את תהליך הבנייה מהייצוג הסופי של האובייקט, ומסייעת לבנות אותו בשלבים.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B48B437D-7CE7-0DE9-C914-49E47964A1DC}"/>
              </a:ext>
            </a:extLst>
          </p:cNvPr>
          <p:cNvSpPr txBox="1"/>
          <p:nvPr/>
        </p:nvSpPr>
        <p:spPr>
          <a:xfrm>
            <a:off x="4276724" y="2392056"/>
            <a:ext cx="21240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מטרת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Singleton</a:t>
            </a:r>
            <a:endParaRPr lang="he-I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B8EA35A7-18F3-4082-39EE-00FECD013CED}"/>
              </a:ext>
            </a:extLst>
          </p:cNvPr>
          <p:cNvSpPr txBox="1"/>
          <p:nvPr/>
        </p:nvSpPr>
        <p:spPr>
          <a:xfrm>
            <a:off x="304799" y="34134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מימוש בפרויקט</a:t>
            </a: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4DD80215-40A9-9D6C-453A-7CEA89F4FB96}"/>
              </a:ext>
            </a:extLst>
          </p:cNvPr>
          <p:cNvSpPr txBox="1"/>
          <p:nvPr/>
        </p:nvSpPr>
        <p:spPr>
          <a:xfrm>
            <a:off x="304799" y="51637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יתרונות</a:t>
            </a:r>
          </a:p>
        </p:txBody>
      </p:sp>
      <p:pic>
        <p:nvPicPr>
          <p:cNvPr id="16" name="תמונה 15" descr="תמונה שמכילה גרפיקה, צבעוני, סמ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FE6FBA0-4986-6E7A-7213-7AFB88EF6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97828">
            <a:off x="6662820" y="3474060"/>
            <a:ext cx="248196" cy="248196"/>
          </a:xfrm>
          <a:prstGeom prst="rect">
            <a:avLst/>
          </a:prstGeom>
        </p:spPr>
      </p:pic>
      <p:pic>
        <p:nvPicPr>
          <p:cNvPr id="18" name="תמונה 17" descr="תמונה שמכילה עיגול, סמל, גרפיקה, צבעוני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2833702-1848-C082-10F6-C6BD23CCE5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681" y="5213202"/>
            <a:ext cx="270474" cy="270474"/>
          </a:xfrm>
          <a:prstGeom prst="rect">
            <a:avLst/>
          </a:prstGeom>
        </p:spPr>
      </p:pic>
      <p:pic>
        <p:nvPicPr>
          <p:cNvPr id="20" name="תמונה 19" descr="תמונה שמכילה עיגו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F0906E1-6673-3DCA-04A3-17C6AD44A2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686" y="2419498"/>
            <a:ext cx="295276" cy="295276"/>
          </a:xfrm>
          <a:prstGeom prst="rect">
            <a:avLst/>
          </a:prstGeom>
        </p:spPr>
      </p:pic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442F6EC0-E64F-0918-9A95-AE8477B8C56F}"/>
              </a:ext>
            </a:extLst>
          </p:cNvPr>
          <p:cNvSpPr txBox="1"/>
          <p:nvPr/>
        </p:nvSpPr>
        <p:spPr>
          <a:xfrm>
            <a:off x="304799" y="278671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לבנות אובייקט בצורה מודולרית, דרך רכיבים שונים (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builder methods) 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תוך שמירה על קריאות הקוד ותחזוקה נוחה.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E9551340-2F0C-9ABA-E0D6-4790C5902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2909" y="3808749"/>
            <a:ext cx="446789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alt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ממומשת במחלקה </a:t>
            </a:r>
            <a:r>
              <a:rPr lang="he-IL" altLang="he-I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ParkingReportBuilder</a:t>
            </a:r>
            <a:r>
              <a:rPr lang="he-IL" alt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br>
              <a:rPr lang="he-IL" alt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he-IL" alt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שמייצרת את האובייקט </a:t>
            </a:r>
            <a:r>
              <a:rPr lang="he-IL" altLang="he-I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ParkingReport</a:t>
            </a:r>
            <a:br>
              <a:rPr lang="he-IL" alt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he-IL" alt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באמצעות פעולות הדרגתיות כמו: </a:t>
            </a:r>
            <a:r>
              <a:rPr lang="he-IL" altLang="he-I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setDate</a:t>
            </a:r>
            <a:r>
              <a:rPr lang="he-IL" alt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he-IL" altLang="he-I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setEntries</a:t>
            </a:r>
            <a:r>
              <a:rPr lang="he-IL" alt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he-IL" altLang="he-I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setTotal</a:t>
            </a:r>
            <a:r>
              <a:rPr lang="he-IL" alt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98BBAAF4-CD84-244E-BFF7-674940AAC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2814" y="5559029"/>
            <a:ext cx="387798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מאפשר בניית אובייקטים מורכבים בצורה מסודרת וברורה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מסייע בהפרדת אחריות בין שלבי יצירת הדו"ח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משפר קריאות, תחזוקה וגמישות הקוד</a:t>
            </a:r>
            <a:endParaRPr kumimoji="0" lang="he-IL" altLang="he-I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97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7F432-03BF-F761-0C5D-C9AD97530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7DED2974-E556-923F-8BF7-EA59D55407A7}"/>
              </a:ext>
            </a:extLst>
          </p:cNvPr>
          <p:cNvSpPr txBox="1"/>
          <p:nvPr/>
        </p:nvSpPr>
        <p:spPr>
          <a:xfrm>
            <a:off x="6905624" y="367784"/>
            <a:ext cx="42005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תבנית עיצוב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Facade</a:t>
            </a:r>
            <a:endParaRPr lang="he-IL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12568A0B-251A-69AF-CB0F-144753BC0AE8}"/>
              </a:ext>
            </a:extLst>
          </p:cNvPr>
          <p:cNvSpPr txBox="1"/>
          <p:nvPr/>
        </p:nvSpPr>
        <p:spPr>
          <a:xfrm>
            <a:off x="1095375" y="123378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תבנית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Facade</a:t>
            </a:r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מספקת ממשק פשוט לשימוש במערכת מורכבת.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היא מסתירה את המבנה הפנימי של תתי-מערכות ומרכזת פעולות מרובות לממשק אחד ברור ונגיש.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818FF0C4-EA30-BC80-FC7A-B86731F66F80}"/>
              </a:ext>
            </a:extLst>
          </p:cNvPr>
          <p:cNvSpPr txBox="1"/>
          <p:nvPr/>
        </p:nvSpPr>
        <p:spPr>
          <a:xfrm>
            <a:off x="4276724" y="2392056"/>
            <a:ext cx="21240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מטרת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Singleton</a:t>
            </a:r>
            <a:endParaRPr lang="he-I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2F44882B-FB80-D604-23BC-FB14048A0E18}"/>
              </a:ext>
            </a:extLst>
          </p:cNvPr>
          <p:cNvSpPr txBox="1"/>
          <p:nvPr/>
        </p:nvSpPr>
        <p:spPr>
          <a:xfrm>
            <a:off x="304799" y="34134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מימוש בפרויקט</a:t>
            </a: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FE67FEFD-7C3A-0334-7322-07B438596E45}"/>
              </a:ext>
            </a:extLst>
          </p:cNvPr>
          <p:cNvSpPr txBox="1"/>
          <p:nvPr/>
        </p:nvSpPr>
        <p:spPr>
          <a:xfrm>
            <a:off x="304799" y="51637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יתרונות</a:t>
            </a:r>
          </a:p>
        </p:txBody>
      </p:sp>
      <p:pic>
        <p:nvPicPr>
          <p:cNvPr id="16" name="תמונה 15" descr="תמונה שמכילה גרפיקה, צבעוני, סמ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83F99C9-B570-F28B-F979-21766E44C6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97828">
            <a:off x="6662820" y="3474060"/>
            <a:ext cx="248196" cy="248196"/>
          </a:xfrm>
          <a:prstGeom prst="rect">
            <a:avLst/>
          </a:prstGeom>
        </p:spPr>
      </p:pic>
      <p:pic>
        <p:nvPicPr>
          <p:cNvPr id="18" name="תמונה 17" descr="תמונה שמכילה עיגול, סמל, גרפיקה, צבעוני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AE120FE-50DA-9B68-63F9-E0F17EDE4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681" y="5213202"/>
            <a:ext cx="270474" cy="270474"/>
          </a:xfrm>
          <a:prstGeom prst="rect">
            <a:avLst/>
          </a:prstGeom>
        </p:spPr>
      </p:pic>
      <p:pic>
        <p:nvPicPr>
          <p:cNvPr id="20" name="תמונה 19" descr="תמונה שמכילה עיגו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6881839-8B3A-40DC-12B4-538BAEDFCD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686" y="2419498"/>
            <a:ext cx="295276" cy="295276"/>
          </a:xfrm>
          <a:prstGeom prst="rect">
            <a:avLst/>
          </a:prstGeom>
        </p:spPr>
      </p:pic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892A6FB0-440B-543A-61A7-295B392F9E2F}"/>
              </a:ext>
            </a:extLst>
          </p:cNvPr>
          <p:cNvSpPr txBox="1"/>
          <p:nvPr/>
        </p:nvSpPr>
        <p:spPr>
          <a:xfrm>
            <a:off x="304799" y="278671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לפשט את הגישה למערכת על ידי איחוד הפעולות המרכזיות לנקודת כניסה אחת.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1B0E9A2D-E46A-670A-311E-A38289049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989" y="3746748"/>
            <a:ext cx="492481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alt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ממומשת במחלקה </a:t>
            </a:r>
            <a:r>
              <a:rPr lang="he-IL" altLang="he-I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PrkingSystemFacade</a:t>
            </a:r>
            <a:r>
              <a:rPr lang="he-IL" alt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שמרכזת פעולות עיקריות כמו:</a:t>
            </a:r>
            <a:endParaRPr lang="en-US" altLang="he-I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altLang="he-I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createVehicle</a:t>
            </a:r>
            <a:r>
              <a:rPr lang="he-IL" alt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he-IL" altLang="he-I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parkVehicle</a:t>
            </a:r>
            <a:r>
              <a:rPr lang="he-IL" alt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he-IL" altLang="he-I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removeVehicle</a:t>
            </a:r>
            <a:r>
              <a:rPr lang="he-IL" alt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he-IL" altLang="he-I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generateReport</a:t>
            </a:r>
            <a:r>
              <a:rPr lang="he-IL" alt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he-IL" altLang="he-I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EAF89C4D-79D0-E9C1-EFB5-80C5E651F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3626" y="5559029"/>
            <a:ext cx="3017173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פישוט השימוש במערכת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קוד נקי, קריא ומופרד מהמורכבות הפנימית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שיפור חוויית המשתמש ותחזוקת הקוד</a:t>
            </a:r>
            <a:endParaRPr kumimoji="0" lang="he-IL" altLang="he-I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663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BF61C-7B16-7B82-D891-7BFE7A43D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8F6F608A-37B8-F0C8-379D-1204E275F664}"/>
              </a:ext>
            </a:extLst>
          </p:cNvPr>
          <p:cNvSpPr txBox="1"/>
          <p:nvPr/>
        </p:nvSpPr>
        <p:spPr>
          <a:xfrm>
            <a:off x="6905624" y="367784"/>
            <a:ext cx="42005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תבנית עיצוב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Factory</a:t>
            </a:r>
            <a:endParaRPr lang="he-IL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5A323C57-6B97-ED7B-5A7C-D09ABEF3FB2F}"/>
              </a:ext>
            </a:extLst>
          </p:cNvPr>
          <p:cNvSpPr txBox="1"/>
          <p:nvPr/>
        </p:nvSpPr>
        <p:spPr>
          <a:xfrm>
            <a:off x="1095375" y="123378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תבנית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Factory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מאפשרת יצירה של אובייקטים מבלי לחשוף את הלוגיקה של תהליך היצירה. היא מספקת גמישות רבה בהרחבת מערכת האובייקטים ובשמירה על עיקרון ההפרדה.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300B0CEF-9A40-92A0-BE83-DC5F7DF3666B}"/>
              </a:ext>
            </a:extLst>
          </p:cNvPr>
          <p:cNvSpPr txBox="1"/>
          <p:nvPr/>
        </p:nvSpPr>
        <p:spPr>
          <a:xfrm>
            <a:off x="4276724" y="2392056"/>
            <a:ext cx="21240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מטרת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Singleton</a:t>
            </a:r>
            <a:endParaRPr lang="he-I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7CD33B89-1ED2-5BEF-125F-CAEA5E55537C}"/>
              </a:ext>
            </a:extLst>
          </p:cNvPr>
          <p:cNvSpPr txBox="1"/>
          <p:nvPr/>
        </p:nvSpPr>
        <p:spPr>
          <a:xfrm>
            <a:off x="304799" y="34134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מימוש בפרויקט</a:t>
            </a: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F67A5687-B707-D4EE-643C-D09BAA347847}"/>
              </a:ext>
            </a:extLst>
          </p:cNvPr>
          <p:cNvSpPr txBox="1"/>
          <p:nvPr/>
        </p:nvSpPr>
        <p:spPr>
          <a:xfrm>
            <a:off x="304799" y="51637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יתרונות</a:t>
            </a:r>
          </a:p>
        </p:txBody>
      </p:sp>
      <p:pic>
        <p:nvPicPr>
          <p:cNvPr id="16" name="תמונה 15" descr="תמונה שמכילה גרפיקה, צבעוני, סמ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3BBB24B-6AF0-6626-A3FF-48B4E2950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97828">
            <a:off x="6662820" y="3474060"/>
            <a:ext cx="248196" cy="248196"/>
          </a:xfrm>
          <a:prstGeom prst="rect">
            <a:avLst/>
          </a:prstGeom>
        </p:spPr>
      </p:pic>
      <p:pic>
        <p:nvPicPr>
          <p:cNvPr id="18" name="תמונה 17" descr="תמונה שמכילה עיגול, סמל, גרפיקה, צבעוני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70855CF-B066-923C-2F2F-D77B36798A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681" y="5213202"/>
            <a:ext cx="270474" cy="270474"/>
          </a:xfrm>
          <a:prstGeom prst="rect">
            <a:avLst/>
          </a:prstGeom>
        </p:spPr>
      </p:pic>
      <p:pic>
        <p:nvPicPr>
          <p:cNvPr id="20" name="תמונה 19" descr="תמונה שמכילה עיגו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5A411FE-BA20-12CB-7394-19EBD75EA9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686" y="2419498"/>
            <a:ext cx="295276" cy="295276"/>
          </a:xfrm>
          <a:prstGeom prst="rect">
            <a:avLst/>
          </a:prstGeom>
        </p:spPr>
      </p:pic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3D0BFF91-1014-26B4-C51C-2457D5472903}"/>
              </a:ext>
            </a:extLst>
          </p:cNvPr>
          <p:cNvSpPr txBox="1"/>
          <p:nvPr/>
        </p:nvSpPr>
        <p:spPr>
          <a:xfrm>
            <a:off x="304799" y="278671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לאפשר יצירה דינאמית של אובייקטים על פי צורך,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מבלי לתלות את הקוד בסוג המימוש הספציפי.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45E6B9EF-AB58-94EA-375B-340C4928A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855" y="3730466"/>
            <a:ext cx="5461944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alt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ממומש דרך המחלקות: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VehicleFactory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(ממשק)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CarFactory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MotorcycleFactory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(מימשו את הממשק)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VehicleFactoryProvider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(מנהל את הבחירה וההחזרה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של ה-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Factory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הנכון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br>
              <a:rPr lang="en-US" alt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he-IL" altLang="he-I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38930A12-879E-0ECE-E6D6-46CE986D0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1587" y="5559029"/>
            <a:ext cx="367921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יצירת רכבים בצורה גנרית ונקייה ממימושים ספציפיים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הרחבה פשוטה בעת הוספת סוג רכב חדש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תחזוקה קלה ואחידות בקוד</a:t>
            </a:r>
            <a:endParaRPr kumimoji="0" lang="he-IL" altLang="he-I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470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E3E97-3CC1-FB02-FCEC-3601CBD3F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A36F405D-B09A-4D22-3349-A5EE7E795102}"/>
              </a:ext>
            </a:extLst>
          </p:cNvPr>
          <p:cNvSpPr txBox="1"/>
          <p:nvPr/>
        </p:nvSpPr>
        <p:spPr>
          <a:xfrm>
            <a:off x="6905624" y="367784"/>
            <a:ext cx="42005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תבנית עיצוב </a:t>
            </a:r>
            <a:r>
              <a:rPr lang="en-US" sz="2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Observer</a:t>
            </a:r>
            <a:endParaRPr lang="he-IL" sz="2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Image 4" descr="preencoded.png">
            <a:extLst>
              <a:ext uri="{FF2B5EF4-FFF2-40B4-BE49-F238E27FC236}">
                <a16:creationId xmlns:a16="http://schemas.microsoft.com/office/drawing/2014/main" id="{611704B9-CBB3-0D9F-9B51-7D61578C6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36412" y="1146514"/>
            <a:ext cx="4564975" cy="4564975"/>
          </a:xfrm>
          <a:prstGeom prst="rect">
            <a:avLst/>
          </a:prstGeom>
        </p:spPr>
      </p:pic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1606D0F1-B42F-FDCC-7449-856A252BF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4036411" y="1146513"/>
            <a:ext cx="4564975" cy="4564975"/>
          </a:xfrm>
          <a:prstGeom prst="rect">
            <a:avLst/>
          </a:prstGeom>
        </p:spPr>
      </p:pic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29AF647B-8706-A6DB-6B3C-5793B423A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4036410" y="1146513"/>
            <a:ext cx="4564975" cy="4564975"/>
          </a:xfrm>
          <a:prstGeom prst="rect">
            <a:avLst/>
          </a:prstGeom>
        </p:spPr>
      </p:pic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88DAE802-891F-1C23-B17C-12C1CD54A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4036409" y="1146512"/>
            <a:ext cx="4564975" cy="4564975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72A8BEDD-EF45-6CD6-89B1-8244B757C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9548" y="1804796"/>
            <a:ext cx="627507" cy="627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90E7922B-3995-BC10-9A63-BC2EEA402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3301" y="3999356"/>
            <a:ext cx="627507" cy="627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E35A4B8B-1ECE-3B2C-F292-D8E2636DF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7349" y="4319393"/>
            <a:ext cx="627507" cy="627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9E3805EB-142B-7C19-73D4-49C5716E2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8699" y="1911100"/>
            <a:ext cx="627507" cy="627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D6D7A079-19FA-DB70-CC8E-9424690E7A18}"/>
              </a:ext>
            </a:extLst>
          </p:cNvPr>
          <p:cNvSpPr txBox="1"/>
          <p:nvPr/>
        </p:nvSpPr>
        <p:spPr>
          <a:xfrm>
            <a:off x="8397168" y="1146510"/>
            <a:ext cx="371513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he-IL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מטרה</a:t>
            </a:r>
            <a:endParaRPr lang="he-IL" sz="1400" b="1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he-IL" sz="1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מאפשר לעצמים לצפות באובייקט אחר</a:t>
            </a:r>
            <a:br>
              <a:rPr lang="en-US" sz="1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1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ולקבל עדכון כאשר מתרחש שינוי.</a:t>
            </a:r>
            <a:endParaRPr lang="he-I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תיבת טקסט 24">
            <a:extLst>
              <a:ext uri="{FF2B5EF4-FFF2-40B4-BE49-F238E27FC236}">
                <a16:creationId xmlns:a16="http://schemas.microsoft.com/office/drawing/2014/main" id="{E531858F-3F99-0BAD-9101-67B49F2171B8}"/>
              </a:ext>
            </a:extLst>
          </p:cNvPr>
          <p:cNvSpPr txBox="1"/>
          <p:nvPr/>
        </p:nvSpPr>
        <p:spPr>
          <a:xfrm>
            <a:off x="8397168" y="4784125"/>
            <a:ext cx="37151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he-IL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יתרונות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מבנה מודולרי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מעקב אוטומטי אחרי שינויים בחניון</a:t>
            </a:r>
          </a:p>
        </p:txBody>
      </p:sp>
      <p:sp>
        <p:nvSpPr>
          <p:cNvPr id="26" name="תיבת טקסט 25">
            <a:extLst>
              <a:ext uri="{FF2B5EF4-FFF2-40B4-BE49-F238E27FC236}">
                <a16:creationId xmlns:a16="http://schemas.microsoft.com/office/drawing/2014/main" id="{249AE526-8A33-B0A7-065B-E8BE95A20270}"/>
              </a:ext>
            </a:extLst>
          </p:cNvPr>
          <p:cNvSpPr txBox="1"/>
          <p:nvPr/>
        </p:nvSpPr>
        <p:spPr>
          <a:xfrm>
            <a:off x="0" y="1146510"/>
            <a:ext cx="43029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מנהל אירועים</a:t>
            </a:r>
            <a:endParaRPr lang="he-IL" sz="1400" b="1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ParkingEventManager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מנהל את רשימת ה־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Observers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addObserver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מוסיפה מאזין חדש לרשימת ההתראות.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notifyVehicleEntry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מודיעה לכל המאזינים על כניסת רכב חדש.</a:t>
            </a:r>
          </a:p>
        </p:txBody>
      </p:sp>
      <p:sp>
        <p:nvSpPr>
          <p:cNvPr id="28" name="תיבת טקסט 27">
            <a:extLst>
              <a:ext uri="{FF2B5EF4-FFF2-40B4-BE49-F238E27FC236}">
                <a16:creationId xmlns:a16="http://schemas.microsoft.com/office/drawing/2014/main" id="{3462A3D3-DFC8-177E-A29D-E2E384BECFF1}"/>
              </a:ext>
            </a:extLst>
          </p:cNvPr>
          <p:cNvSpPr txBox="1"/>
          <p:nvPr/>
        </p:nvSpPr>
        <p:spPr>
          <a:xfrm>
            <a:off x="587834" y="4784125"/>
            <a:ext cx="3715134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בפרויקט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כאשר רכב נכנס או יוצא, נשלח עדכון לכל מי שעוקב אחר החניון. למשל, מחלקת סטטיסטיקה מתעדכנת כאשר משתנה מספר הרכבים.</a:t>
            </a:r>
          </a:p>
        </p:txBody>
      </p:sp>
    </p:spTree>
    <p:extLst>
      <p:ext uri="{BB962C8B-B14F-4D97-AF65-F5344CB8AC3E}">
        <p14:creationId xmlns:p14="http://schemas.microsoft.com/office/powerpoint/2010/main" val="1394584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04E61-9E52-12D6-97FF-477D54A9C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95DEB2F8-9746-41F7-1A8B-84261C3EC926}"/>
              </a:ext>
            </a:extLst>
          </p:cNvPr>
          <p:cNvSpPr txBox="1"/>
          <p:nvPr/>
        </p:nvSpPr>
        <p:spPr>
          <a:xfrm>
            <a:off x="6905624" y="367784"/>
            <a:ext cx="4200525" cy="726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550"/>
              </a:lnSpc>
            </a:pPr>
            <a:r>
              <a:rPr lang="en-US" sz="2800">
                <a:solidFill>
                  <a:srgbClr val="312F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חישובים, דוחות ובדיקות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תמונה 9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54EF358-BC2D-A8B2-C9F9-7561D99767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340" y="6050912"/>
            <a:ext cx="790701" cy="790701"/>
          </a:xfrm>
          <a:prstGeom prst="rect">
            <a:avLst/>
          </a:prstGeom>
        </p:spPr>
      </p:pic>
      <p:pic>
        <p:nvPicPr>
          <p:cNvPr id="11" name="תמונה 10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9C84A7A-47B6-9855-C4F1-354C994BDAD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4397" y="5777305"/>
            <a:ext cx="1337913" cy="1337913"/>
          </a:xfrm>
          <a:prstGeom prst="rect">
            <a:avLst/>
          </a:prstGeom>
        </p:spPr>
      </p:pic>
      <p:pic>
        <p:nvPicPr>
          <p:cNvPr id="13" name="תמונה 12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40B26A6-1EBA-F6FD-78E4-248A7590AA0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602" y="6050910"/>
            <a:ext cx="790701" cy="790701"/>
          </a:xfrm>
          <a:prstGeom prst="rect">
            <a:avLst/>
          </a:prstGeom>
        </p:spPr>
      </p:pic>
      <p:pic>
        <p:nvPicPr>
          <p:cNvPr id="15" name="תמונה 14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64C0955-9BEF-AE6F-8B19-575D26807A1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865" y="5777305"/>
            <a:ext cx="1337913" cy="1337913"/>
          </a:xfrm>
          <a:prstGeom prst="rect">
            <a:avLst/>
          </a:prstGeom>
        </p:spPr>
      </p:pic>
      <p:pic>
        <p:nvPicPr>
          <p:cNvPr id="17" name="תמונה 16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BA4BA87-1523-852F-50B5-CD691692E08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864" y="6050909"/>
            <a:ext cx="790701" cy="790701"/>
          </a:xfrm>
          <a:prstGeom prst="rect">
            <a:avLst/>
          </a:prstGeom>
        </p:spPr>
      </p:pic>
      <p:pic>
        <p:nvPicPr>
          <p:cNvPr id="19" name="תמונה 18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E7D3B43-764B-FCC3-70C3-5F2AD2C8A4C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0127" y="5777305"/>
            <a:ext cx="1337913" cy="1337913"/>
          </a:xfrm>
          <a:prstGeom prst="rect">
            <a:avLst/>
          </a:prstGeom>
        </p:spPr>
      </p:pic>
      <p:pic>
        <p:nvPicPr>
          <p:cNvPr id="21" name="תמונה 20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4D3FEB8-B145-5745-0E24-A1B59D66D19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042" y="6050907"/>
            <a:ext cx="790701" cy="790701"/>
          </a:xfrm>
          <a:prstGeom prst="rect">
            <a:avLst/>
          </a:prstGeom>
        </p:spPr>
      </p:pic>
      <p:pic>
        <p:nvPicPr>
          <p:cNvPr id="24" name="תמונה 23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B08286F-199D-81A5-C374-935B4DACF53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389" y="5777302"/>
            <a:ext cx="1337913" cy="1337913"/>
          </a:xfrm>
          <a:prstGeom prst="rect">
            <a:avLst/>
          </a:prstGeom>
        </p:spPr>
      </p:pic>
      <p:pic>
        <p:nvPicPr>
          <p:cNvPr id="25" name="תמונה 24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C2E9ECF-AB4A-51CD-879D-3A3D7D9E9AD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8483" y="5777300"/>
            <a:ext cx="1337913" cy="1337913"/>
          </a:xfrm>
          <a:prstGeom prst="rect">
            <a:avLst/>
          </a:prstGeom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BCBE7BE3-6C44-5969-EEDD-45468D4B2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6564" y="1561916"/>
            <a:ext cx="745426" cy="745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>
            <a:extLst>
              <a:ext uri="{FF2B5EF4-FFF2-40B4-BE49-F238E27FC236}">
                <a16:creationId xmlns:a16="http://schemas.microsoft.com/office/drawing/2014/main" id="{D9247862-73BE-33A7-494E-0B60CF7D3C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5944" y="1561916"/>
            <a:ext cx="745426" cy="745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>
            <a:extLst>
              <a:ext uri="{FF2B5EF4-FFF2-40B4-BE49-F238E27FC236}">
                <a16:creationId xmlns:a16="http://schemas.microsoft.com/office/drawing/2014/main" id="{4E5B1289-6112-24FC-CDD8-D56AD454B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258" y="1678293"/>
            <a:ext cx="745426" cy="745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מחבר ישר 5">
            <a:extLst>
              <a:ext uri="{FF2B5EF4-FFF2-40B4-BE49-F238E27FC236}">
                <a16:creationId xmlns:a16="http://schemas.microsoft.com/office/drawing/2014/main" id="{7FB2BC24-2220-7E2E-2F33-50E39AC50C09}"/>
              </a:ext>
            </a:extLst>
          </p:cNvPr>
          <p:cNvCxnSpPr>
            <a:cxnSpLocks/>
          </p:cNvCxnSpPr>
          <p:nvPr/>
        </p:nvCxnSpPr>
        <p:spPr>
          <a:xfrm>
            <a:off x="3836245" y="1678293"/>
            <a:ext cx="0" cy="4099007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1430D812-BF6D-59FD-5A95-777B43852109}"/>
              </a:ext>
            </a:extLst>
          </p:cNvPr>
          <p:cNvCxnSpPr>
            <a:cxnSpLocks/>
          </p:cNvCxnSpPr>
          <p:nvPr/>
        </p:nvCxnSpPr>
        <p:spPr>
          <a:xfrm>
            <a:off x="8268037" y="1678293"/>
            <a:ext cx="0" cy="4099007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תיבת טקסט 28">
            <a:extLst>
              <a:ext uri="{FF2B5EF4-FFF2-40B4-BE49-F238E27FC236}">
                <a16:creationId xmlns:a16="http://schemas.microsoft.com/office/drawing/2014/main" id="{3685FFAB-B0A7-CDAF-3B53-183365B75E0A}"/>
              </a:ext>
            </a:extLst>
          </p:cNvPr>
          <p:cNvSpPr txBox="1"/>
          <p:nvPr/>
        </p:nvSpPr>
        <p:spPr>
          <a:xfrm>
            <a:off x="8337253" y="3249177"/>
            <a:ext cx="3714539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דוח מקיף הכולל מידע על כניסות, הכנסות, תפוסה ונתונים סטטיסטיים לפי סוגי רכבים.</a:t>
            </a:r>
            <a:br>
              <a:rPr lang="he-IL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הדוח נבנה באמצעות המחלקה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ParkingReportBuilder</a:t>
            </a:r>
            <a:endParaRPr lang="he-IL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9BE2098D-59BD-4952-D049-33E8E2C7A7DF}"/>
              </a:ext>
            </a:extLst>
          </p:cNvPr>
          <p:cNvSpPr txBox="1"/>
          <p:nvPr/>
        </p:nvSpPr>
        <p:spPr>
          <a:xfrm>
            <a:off x="4360948" y="3249176"/>
            <a:ext cx="3714539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במערכת קיימים קבצי בדיקה כגון:</a:t>
            </a:r>
          </a:p>
          <a:p>
            <a:endParaRPr lang="he-IL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e-IL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StatisticsTest</a:t>
            </a:r>
            <a:b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ParkingCalculatorTest</a:t>
            </a:r>
            <a:endParaRPr lang="he-IL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he-IL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e-IL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הבדיקות ממוקדות בחישוב מחירים, הפקת דוחות ועדכון סטטיסטיקות.</a:t>
            </a:r>
          </a:p>
          <a:p>
            <a:endParaRPr lang="he-IL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תיבת טקסט 30">
            <a:extLst>
              <a:ext uri="{FF2B5EF4-FFF2-40B4-BE49-F238E27FC236}">
                <a16:creationId xmlns:a16="http://schemas.microsoft.com/office/drawing/2014/main" id="{A4971F52-DF3E-7268-47BF-6063E79ED6E6}"/>
              </a:ext>
            </a:extLst>
          </p:cNvPr>
          <p:cNvSpPr txBox="1"/>
          <p:nvPr/>
        </p:nvSpPr>
        <p:spPr>
          <a:xfrm>
            <a:off x="-120246" y="3249176"/>
            <a:ext cx="3714539" cy="12464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כל הבדיקות נכתבות באמצעות ספריית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Junit</a:t>
            </a:r>
            <a:endParaRPr lang="he-IL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e-IL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ספרייה סטנדרטית לבדיקה של קוד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</a:t>
            </a:r>
            <a:b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הבדיקות מבטיחות דיוק ואמינות, ומוודאות שהמערכת פועלת בצורה תקינה גם בתרחישים מורכבים.</a:t>
            </a:r>
          </a:p>
        </p:txBody>
      </p:sp>
      <p:sp>
        <p:nvSpPr>
          <p:cNvPr id="33" name="תיבת טקסט 32">
            <a:extLst>
              <a:ext uri="{FF2B5EF4-FFF2-40B4-BE49-F238E27FC236}">
                <a16:creationId xmlns:a16="http://schemas.microsoft.com/office/drawing/2014/main" id="{CB9663B7-2A64-7807-90EC-29E9AB2495D0}"/>
              </a:ext>
            </a:extLst>
          </p:cNvPr>
          <p:cNvSpPr txBox="1"/>
          <p:nvPr/>
        </p:nvSpPr>
        <p:spPr>
          <a:xfrm>
            <a:off x="8375907" y="2496312"/>
            <a:ext cx="3666741" cy="3539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7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ParkingReport</a:t>
            </a:r>
            <a:endParaRPr lang="he-IL" sz="17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תיבת טקסט 33">
            <a:extLst>
              <a:ext uri="{FF2B5EF4-FFF2-40B4-BE49-F238E27FC236}">
                <a16:creationId xmlns:a16="http://schemas.microsoft.com/office/drawing/2014/main" id="{63E01096-74CF-BCFA-B087-CE3F08AACFCC}"/>
              </a:ext>
            </a:extLst>
          </p:cNvPr>
          <p:cNvSpPr txBox="1"/>
          <p:nvPr/>
        </p:nvSpPr>
        <p:spPr>
          <a:xfrm>
            <a:off x="4384846" y="2496312"/>
            <a:ext cx="3666741" cy="3539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בדיקות</a:t>
            </a:r>
          </a:p>
        </p:txBody>
      </p:sp>
      <p:sp>
        <p:nvSpPr>
          <p:cNvPr id="35" name="תיבת טקסט 34">
            <a:extLst>
              <a:ext uri="{FF2B5EF4-FFF2-40B4-BE49-F238E27FC236}">
                <a16:creationId xmlns:a16="http://schemas.microsoft.com/office/drawing/2014/main" id="{B5CA9022-122D-508E-6060-672FB7FC75FC}"/>
              </a:ext>
            </a:extLst>
          </p:cNvPr>
          <p:cNvSpPr txBox="1"/>
          <p:nvPr/>
        </p:nvSpPr>
        <p:spPr>
          <a:xfrm>
            <a:off x="-15284" y="2496311"/>
            <a:ext cx="366674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600" b="1" dirty="0"/>
              <a:t>פורמט </a:t>
            </a:r>
            <a:r>
              <a:rPr lang="en-US" sz="1600" b="1" dirty="0"/>
              <a:t>JUnit</a:t>
            </a:r>
          </a:p>
        </p:txBody>
      </p:sp>
    </p:spTree>
    <p:extLst>
      <p:ext uri="{BB962C8B-B14F-4D97-AF65-F5344CB8AC3E}">
        <p14:creationId xmlns:p14="http://schemas.microsoft.com/office/powerpoint/2010/main" val="3904460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80904-B14F-DC8C-7F95-68B45674D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D3453F3D-DCED-8E3C-DA84-237B508EEC77}"/>
              </a:ext>
            </a:extLst>
          </p:cNvPr>
          <p:cNvSpPr txBox="1"/>
          <p:nvPr/>
        </p:nvSpPr>
        <p:spPr>
          <a:xfrm>
            <a:off x="6905624" y="367784"/>
            <a:ext cx="4200525" cy="726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550"/>
              </a:lnSpc>
            </a:pPr>
            <a:r>
              <a:rPr lang="he-IL" sz="2800" dirty="0">
                <a:solidFill>
                  <a:srgbClr val="312F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תרשים </a:t>
            </a:r>
            <a:r>
              <a:rPr lang="en-US" sz="2800" dirty="0">
                <a:solidFill>
                  <a:srgbClr val="312F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UML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תמונה 9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8043B11-6441-7091-9731-C8F9E74081C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340" y="6050912"/>
            <a:ext cx="790701" cy="790701"/>
          </a:xfrm>
          <a:prstGeom prst="rect">
            <a:avLst/>
          </a:prstGeom>
        </p:spPr>
      </p:pic>
      <p:pic>
        <p:nvPicPr>
          <p:cNvPr id="11" name="תמונה 10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1486371-78B7-3745-A1FE-D8F49E2C9C3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4397" y="5777305"/>
            <a:ext cx="1337913" cy="1337913"/>
          </a:xfrm>
          <a:prstGeom prst="rect">
            <a:avLst/>
          </a:prstGeom>
        </p:spPr>
      </p:pic>
      <p:pic>
        <p:nvPicPr>
          <p:cNvPr id="13" name="תמונה 12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416EED0-B80F-E50B-BD28-671B5330588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602" y="6050910"/>
            <a:ext cx="790701" cy="790701"/>
          </a:xfrm>
          <a:prstGeom prst="rect">
            <a:avLst/>
          </a:prstGeom>
        </p:spPr>
      </p:pic>
      <p:pic>
        <p:nvPicPr>
          <p:cNvPr id="15" name="תמונה 14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DF2E0B2-4937-36AB-A82C-B420FCCF25A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865" y="5777305"/>
            <a:ext cx="1337913" cy="1337913"/>
          </a:xfrm>
          <a:prstGeom prst="rect">
            <a:avLst/>
          </a:prstGeom>
        </p:spPr>
      </p:pic>
      <p:pic>
        <p:nvPicPr>
          <p:cNvPr id="17" name="תמונה 16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1A880A5-AEE3-A4D1-F37D-DEC5D01407C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864" y="6050909"/>
            <a:ext cx="790701" cy="790701"/>
          </a:xfrm>
          <a:prstGeom prst="rect">
            <a:avLst/>
          </a:prstGeom>
        </p:spPr>
      </p:pic>
      <p:pic>
        <p:nvPicPr>
          <p:cNvPr id="19" name="תמונה 18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74D0E08-86BC-344A-2F30-822990CEEA4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0127" y="5777305"/>
            <a:ext cx="1337913" cy="1337913"/>
          </a:xfrm>
          <a:prstGeom prst="rect">
            <a:avLst/>
          </a:prstGeom>
        </p:spPr>
      </p:pic>
      <p:pic>
        <p:nvPicPr>
          <p:cNvPr id="21" name="תמונה 20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8FD13F4-34C3-6C5E-F110-58AF22A47D7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042" y="6050907"/>
            <a:ext cx="790701" cy="790701"/>
          </a:xfrm>
          <a:prstGeom prst="rect">
            <a:avLst/>
          </a:prstGeom>
        </p:spPr>
      </p:pic>
      <p:pic>
        <p:nvPicPr>
          <p:cNvPr id="24" name="תמונה 23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FD35086-BC89-7224-22C6-7395C29257B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389" y="5777302"/>
            <a:ext cx="1337913" cy="1337913"/>
          </a:xfrm>
          <a:prstGeom prst="rect">
            <a:avLst/>
          </a:prstGeom>
        </p:spPr>
      </p:pic>
      <p:pic>
        <p:nvPicPr>
          <p:cNvPr id="25" name="תמונה 24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13FAD9D-8836-184F-342B-9B6119A4072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8483" y="5777300"/>
            <a:ext cx="1337913" cy="1337913"/>
          </a:xfrm>
          <a:prstGeom prst="rect">
            <a:avLst/>
          </a:prstGeom>
        </p:spPr>
      </p:pic>
      <p:pic>
        <p:nvPicPr>
          <p:cNvPr id="4" name="תמונה 3" descr="תמונה שמכילה טקסט, תרשים, קו, קבל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7881ECC-31AF-CE07-B819-A28008CF19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2175"/>
            <a:ext cx="12192000" cy="405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685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FD850-B599-F9A6-1369-5AB7CBE1F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9D8B0004-A2A5-4FBB-4EA5-4C1E0AB34E10}"/>
              </a:ext>
            </a:extLst>
          </p:cNvPr>
          <p:cNvSpPr txBox="1"/>
          <p:nvPr/>
        </p:nvSpPr>
        <p:spPr>
          <a:xfrm>
            <a:off x="6905624" y="367784"/>
            <a:ext cx="42005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סיכום ומסקנות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D6E22A-0DDD-EE12-C36F-D22FAD03E50A}"/>
              </a:ext>
            </a:extLst>
          </p:cNvPr>
          <p:cNvSpPr txBox="1"/>
          <p:nvPr/>
        </p:nvSpPr>
        <p:spPr>
          <a:xfrm>
            <a:off x="5011673" y="990892"/>
            <a:ext cx="6094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המערכת מדגימה שימוש נרחב בתכנות מונחה עצמים ובתבניות עיצוב מתקדמות.</a:t>
            </a:r>
            <a:b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הדגש הושם על מודולריות, הפרדת אחריות וקוד נקי.</a:t>
            </a:r>
            <a:b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המערכת אמינה, בדוקה ומוכנה להרחבה עתידית.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3BCD26B1-9BEE-40AA-6EAB-3FBBBBD5B854}"/>
              </a:ext>
            </a:extLst>
          </p:cNvPr>
          <p:cNvSpPr txBox="1"/>
          <p:nvPr/>
        </p:nvSpPr>
        <p:spPr>
          <a:xfrm>
            <a:off x="5011673" y="2302502"/>
            <a:ext cx="609447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תכנות מונחה עצמים</a:t>
            </a:r>
          </a:p>
          <a:p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שימוש עשיר בתבניות עיצוב:</a:t>
            </a:r>
            <a:b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Singleton, Builder, Facade, Factory, Observer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e-IL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קוד מודולרי</a:t>
            </a:r>
          </a:p>
          <a:p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כל רכב נבנה עם אחריות אחת בלבד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מה שמאפשר הרחבה עתידית קלה וניהול קוד יעיל.</a:t>
            </a:r>
          </a:p>
          <a:p>
            <a:endParaRPr lang="he-I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e-IL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אמינות ובדיקות</a:t>
            </a:r>
          </a:p>
          <a:p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המערכת נבדקה באמצעות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Junit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עם בדיקות מקיפות לחישובים, דוחות וסטטיסטיקות.</a:t>
            </a:r>
            <a:b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כך אנו מבטיחים שהמערכת יציבה ופועלת כנדרש.</a:t>
            </a:r>
            <a:endParaRPr lang="he-IL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תמונה 8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EA3BDBD-CFE8-7E8B-9A28-22B7B43EFB7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340" y="6050912"/>
            <a:ext cx="790701" cy="790701"/>
          </a:xfrm>
          <a:prstGeom prst="rect">
            <a:avLst/>
          </a:prstGeom>
        </p:spPr>
      </p:pic>
      <p:pic>
        <p:nvPicPr>
          <p:cNvPr id="10" name="תמונה 9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4995D09-812B-3A76-7B82-D2026DB59BA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4397" y="5777305"/>
            <a:ext cx="1337913" cy="1337913"/>
          </a:xfrm>
          <a:prstGeom prst="rect">
            <a:avLst/>
          </a:prstGeom>
        </p:spPr>
      </p:pic>
      <p:pic>
        <p:nvPicPr>
          <p:cNvPr id="11" name="תמונה 10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9C70E1A-214E-D0FD-7348-2D1AE652AD0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602" y="6050910"/>
            <a:ext cx="790701" cy="790701"/>
          </a:xfrm>
          <a:prstGeom prst="rect">
            <a:avLst/>
          </a:prstGeom>
        </p:spPr>
      </p:pic>
      <p:pic>
        <p:nvPicPr>
          <p:cNvPr id="13" name="תמונה 12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56214C5-6156-52BE-299D-7061D8C0CEC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865" y="5777305"/>
            <a:ext cx="1337913" cy="1337913"/>
          </a:xfrm>
          <a:prstGeom prst="rect">
            <a:avLst/>
          </a:prstGeom>
        </p:spPr>
      </p:pic>
      <p:pic>
        <p:nvPicPr>
          <p:cNvPr id="15" name="תמונה 14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DCB431E-A000-A825-C188-E771BADDCDC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864" y="6050909"/>
            <a:ext cx="790701" cy="790701"/>
          </a:xfrm>
          <a:prstGeom prst="rect">
            <a:avLst/>
          </a:prstGeom>
        </p:spPr>
      </p:pic>
      <p:pic>
        <p:nvPicPr>
          <p:cNvPr id="17" name="תמונה 16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9C6DEE6-A40C-9CBB-3CAD-84F59D7BD6B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0127" y="5777305"/>
            <a:ext cx="1337913" cy="1337913"/>
          </a:xfrm>
          <a:prstGeom prst="rect">
            <a:avLst/>
          </a:prstGeom>
        </p:spPr>
      </p:pic>
      <p:pic>
        <p:nvPicPr>
          <p:cNvPr id="19" name="תמונה 18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F4E87E4-2AD7-25A9-D208-60190AB7E5D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042" y="6050907"/>
            <a:ext cx="790701" cy="790701"/>
          </a:xfrm>
          <a:prstGeom prst="rect">
            <a:avLst/>
          </a:prstGeom>
        </p:spPr>
      </p:pic>
      <p:pic>
        <p:nvPicPr>
          <p:cNvPr id="21" name="תמונה 20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A19C0A7-E849-FEDB-33FE-A14502EDA0B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389" y="5777302"/>
            <a:ext cx="1337913" cy="1337913"/>
          </a:xfrm>
          <a:prstGeom prst="rect">
            <a:avLst/>
          </a:prstGeom>
        </p:spPr>
      </p:pic>
      <p:pic>
        <p:nvPicPr>
          <p:cNvPr id="24" name="תמונה 23" descr="תמונה שמכילה שחור, חשיכ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3FCC65A-4561-B14D-7770-3FC4155C374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8483" y="5777300"/>
            <a:ext cx="1337913" cy="133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074957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8393</TotalTime>
  <Words>943</Words>
  <Application>Microsoft Office PowerPoint</Application>
  <PresentationFormat>מסך רחב</PresentationFormat>
  <Paragraphs>96</Paragraphs>
  <Slides>11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Courier New</vt:lpstr>
      <vt:lpstr>Gelasio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כפיר מוסקוביץ</dc:creator>
  <cp:lastModifiedBy>כפיר מוסקוביץ</cp:lastModifiedBy>
  <cp:revision>12</cp:revision>
  <dcterms:created xsi:type="dcterms:W3CDTF">2025-06-23T10:14:06Z</dcterms:created>
  <dcterms:modified xsi:type="dcterms:W3CDTF">2025-07-17T07:22:54Z</dcterms:modified>
</cp:coreProperties>
</file>